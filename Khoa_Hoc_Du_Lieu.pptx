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Merriweather"/>
      <p:regular r:id="rId21"/>
      <p:bold r:id="rId22"/>
      <p:italic r:id="rId23"/>
      <p:boldItalic r:id="rId24"/>
    </p:embeddedFont>
    <p:embeddedFont>
      <p:font typeface="DM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CFE2ACD-7A37-4DE7-8126-3E4AFFFBCC89}">
  <a:tblStyle styleId="{3CFE2ACD-7A37-4DE7-8126-3E4AFFFBCC8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Merriweather-bold.fntdata"/><Relationship Id="rId21" Type="http://schemas.openxmlformats.org/officeDocument/2006/relationships/font" Target="fonts/Merriweather-regular.fntdata"/><Relationship Id="rId24" Type="http://schemas.openxmlformats.org/officeDocument/2006/relationships/font" Target="fonts/Merriweather-boldItalic.fntdata"/><Relationship Id="rId23" Type="http://schemas.openxmlformats.org/officeDocument/2006/relationships/font" Target="fonts/Merriweath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DMSans-bold.fntdata"/><Relationship Id="rId25" Type="http://schemas.openxmlformats.org/officeDocument/2006/relationships/font" Target="fonts/DMSans-regular.fntdata"/><Relationship Id="rId28" Type="http://schemas.openxmlformats.org/officeDocument/2006/relationships/font" Target="fonts/DMSans-boldItalic.fntdata"/><Relationship Id="rId27" Type="http://schemas.openxmlformats.org/officeDocument/2006/relationships/font" Target="fonts/DM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27.png"/><Relationship Id="rId5" Type="http://schemas.openxmlformats.org/officeDocument/2006/relationships/image" Target="../media/image34.png"/><Relationship Id="rId6" Type="http://schemas.openxmlformats.org/officeDocument/2006/relationships/image" Target="../media/image12.png"/><Relationship Id="rId7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9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4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9" Type="http://schemas.openxmlformats.org/officeDocument/2006/relationships/image" Target="../media/image28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29.png"/><Relationship Id="rId8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23.png"/><Relationship Id="rId5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Relationship Id="rId7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BE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1300" y="4686445"/>
            <a:ext cx="6629400" cy="8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725378" y="1601000"/>
            <a:ext cx="87411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Phân tích và dự đoán hiệu suất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35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 học tập của sinh viên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347195" y="3246163"/>
            <a:ext cx="3497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500" u="none" cap="none" strike="noStrike">
                <a:solidFill>
                  <a:srgbClr val="4682B4"/>
                </a:solidFill>
                <a:latin typeface="DM Sans"/>
                <a:ea typeface="DM Sans"/>
                <a:cs typeface="DM Sans"/>
                <a:sym typeface="DM Sans"/>
              </a:rPr>
              <a:t>KHOA HỌC DỮ LIỆU</a:t>
            </a:r>
            <a:endParaRPr sz="2500"/>
          </a:p>
        </p:txBody>
      </p:sp>
      <p:sp>
        <p:nvSpPr>
          <p:cNvPr id="87" name="Google Shape;87;p13"/>
          <p:cNvSpPr txBox="1"/>
          <p:nvPr/>
        </p:nvSpPr>
        <p:spPr>
          <a:xfrm>
            <a:off x="2781300" y="4895995"/>
            <a:ext cx="3219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GVHD: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TS. Nguyễn Văn Huy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781300" y="5200795"/>
            <a:ext cx="3219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Sinh viên: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Vũ Việt Anh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191250" y="4895995"/>
            <a:ext cx="3219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Lớp: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K58KTP.K01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191250" y="5200795"/>
            <a:ext cx="3219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MSSV: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K225480106082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BE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33675"/>
            <a:ext cx="5334000" cy="224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733675"/>
            <a:ext cx="5334000" cy="22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52500" y="3114675"/>
            <a:ext cx="48006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Tính cấp thiết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3333750"/>
            <a:ext cx="457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Nhà trường thường chỉ phát hiện sinh viên học kém khi kết quả đã có. Cần một giải pháp </a:t>
            </a:r>
            <a:r>
              <a:rPr b="1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Cảnh báo sớm (Early Warning System)</a:t>
            </a: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dựa trên dữ liệu sẵn có.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67500" y="3114675"/>
            <a:ext cx="48006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Giá trị mang lại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67500" y="333375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Sử dụng dữ liệu về gia đình, thói quen sinh hoạt và học tập để dự đoán kết quả trước kỳ thi, giúp giảng viên hỗ trợ sinh viên kịp thời.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Ý NGHĨA &amp; MỤC TIÊU ĐỀ TÀI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BEA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1000125" y="2771775"/>
            <a:ext cx="10620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Bộ dữ liệu: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Student Performance (UCI Repository) - Nhóm Portuguese (649 bản ghi).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000125" y="3314700"/>
            <a:ext cx="10620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Tính năng: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Phân tích EDA, Dự đoán điểm G3 (Hồi quy), Phân loại học lực (Classification), Phân cụm hành vi (Clustering).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000125" y="3857625"/>
            <a:ext cx="10620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Công nghệ: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Ngôn ngữ Python, Thư viện Pandas, Scikit-learn, Matplotlib, Seaborn.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000125" y="4400550"/>
            <a:ext cx="10620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Mục tiêu: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Trả lời 7 câu hỏi nghiên cứu về các yếu tố ảnh hưởng đến học lực.</a:t>
            </a:r>
            <a:endParaRPr/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098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5280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9572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3865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PHẠM VI CỦA ĐỀ TÀI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BEA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8595" y="345757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10581" y="345757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12567" y="345757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4553" y="345757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16539" y="345757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918525" y="345757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20511" y="34575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/>
          <p:nvPr/>
        </p:nvSpPr>
        <p:spPr>
          <a:xfrm>
            <a:off x="647700" y="3457575"/>
            <a:ext cx="11049000" cy="381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4410075"/>
            <a:ext cx="143634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Đọc dữ liệu (CSV)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2173485" y="4410075"/>
            <a:ext cx="143634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Kiểm tra &amp; Làm sạch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3775471" y="4410075"/>
            <a:ext cx="143634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Phân tích EDA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377457" y="4410075"/>
            <a:ext cx="143634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Tiền xử lý dữ liệu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979443" y="4410075"/>
            <a:ext cx="143634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Chia tập Train/Test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581429" y="4410075"/>
            <a:ext cx="143634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Huấn luyện Mô hình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0183415" y="4410075"/>
            <a:ext cx="143634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Đánh giá &amp; Lưu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QUY TRÌNH THỰC HIỆN HỆ THỐNG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BEA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0" y="227930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855344" y="3327052"/>
            <a:ext cx="1048131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KẾT QUẢ PHÂN TÍCH DỮ LIỆU (EDA)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3302347" y="4212877"/>
            <a:ext cx="558730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Khám phá các yếu tố ảnh hưởng đến kết quả học tập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BEA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526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1000125" y="273843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G1, G2, G3: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Có tương quan cực mạnh (~0.9), chứng tỏ kết quả giữa kỳ dự báo chính xác cuối kỳ.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1000125" y="358616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Studytime: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Tỷ lệ thuận với điểm số.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1000125" y="412908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Failures &amp; Absences: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Tỷ lệ nghịch rõ rệt với kết quả G3.</a:t>
            </a:r>
            <a:endParaRPr/>
          </a:p>
        </p:txBody>
      </p:sp>
      <p:pic>
        <p:nvPicPr>
          <p:cNvPr descr="image.png" id="158" name="Google Shape;15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765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242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67187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TƯƠNG QUAN GIỮA CÁC BIẾN SỐ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72684" y="1533213"/>
            <a:ext cx="5788465" cy="4648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BEA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90825"/>
            <a:ext cx="355595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790825"/>
            <a:ext cx="355595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790825"/>
            <a:ext cx="3556099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1275" y="302895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732632" y="3552825"/>
            <a:ext cx="323368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Giới tính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809625" y="3771900"/>
            <a:ext cx="3079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Sinh viên Nữ (mean=12.25) có điểm trung bình cao hơn Nam (mean=11.41).</a:t>
            </a:r>
            <a:endParaRPr/>
          </a:p>
        </p:txBody>
      </p:sp>
      <p:pic>
        <p:nvPicPr>
          <p:cNvPr descr="image.png" id="175" name="Google Shape;175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726" y="302895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4479082" y="3552825"/>
            <a:ext cx="323368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Số buổi vắng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4556075" y="3771900"/>
            <a:ext cx="3079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Tương quan âm (-0.09). Càng vắng học nhiều, xu hướng điểm số càng giảm.</a:t>
            </a:r>
            <a:endParaRPr/>
          </a:p>
        </p:txBody>
      </p:sp>
      <p:pic>
        <p:nvPicPr>
          <p:cNvPr descr="image.png" id="178" name="Google Shape;178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04325" y="302895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8225529" y="3552825"/>
            <a:ext cx="323384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Học vấn cha mẹ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8302525" y="3771900"/>
            <a:ext cx="30798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Medu (0.24) và Fedu (0.21) có ảnh hưởng tích cực đến điểm số của con.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PHÂN TÍCH YẾU TỐ GIỚI TÍNH &amp; CHUYÊN CẦN</a:t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BEA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0" y="227930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1295400" y="3327052"/>
            <a:ext cx="960120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ỨNG DỤNG MACHINE LEARNING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3086695" y="4212877"/>
            <a:ext cx="6018609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Dự đoán điểm số, Phân loại học lực &amp; Phân cụm sinh viên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BEA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571500" y="2237184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So sánh giữa </a:t>
            </a:r>
            <a:r>
              <a:rPr b="1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Linear Regression</a:t>
            </a: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và </a:t>
            </a:r>
            <a:r>
              <a:rPr b="1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Random Forest Regressor</a:t>
            </a: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(không sử dụng G1, G2):</a:t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571500" y="2732484"/>
            <a:ext cx="11049000" cy="185737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9" name="Google Shape;199;p21"/>
          <p:cNvGraphicFramePr/>
          <p:nvPr/>
        </p:nvGraphicFramePr>
        <p:xfrm>
          <a:off x="571500" y="27324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{3CFE2ACD-7A37-4DE7-8126-3E4AFFFBCC89}</a:tableStyleId>
              </a:tblPr>
              <a:tblGrid>
                <a:gridCol w="3526475"/>
                <a:gridCol w="2954250"/>
                <a:gridCol w="1423550"/>
                <a:gridCol w="3144750"/>
              </a:tblGrid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Mô hình thuật toán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MAE (Sai số TB)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RMSE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R² (Độ giải thích)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F3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Linear Regression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2.111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2.842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0.172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Random Forest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2.083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2.864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0.159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0" name="Google Shape;200;p21"/>
          <p:cNvSpPr/>
          <p:nvPr/>
        </p:nvSpPr>
        <p:spPr>
          <a:xfrm>
            <a:off x="571500" y="3975496"/>
            <a:ext cx="3526482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4097982" y="3975496"/>
            <a:ext cx="2954238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7052220" y="3975496"/>
            <a:ext cx="1423541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8475761" y="3975496"/>
            <a:ext cx="3144738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571500" y="4575571"/>
            <a:ext cx="3526482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4097982" y="4575571"/>
            <a:ext cx="2954238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7052220" y="4575571"/>
            <a:ext cx="1423541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8475761" y="4575571"/>
            <a:ext cx="3144738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KẾT QUẢ DỰ ĐOÁN ĐIỂM SỐ (HỒI QUY)</a:t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BEA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571500" y="2362200"/>
            <a:ext cx="5286375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4682B4"/>
                </a:solidFill>
                <a:latin typeface="DM Sans"/>
                <a:ea typeface="DM Sans"/>
                <a:cs typeface="DM Sans"/>
                <a:sym typeface="DM Sans"/>
              </a:rPr>
              <a:t>84.6%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571500" y="335280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Accuracy - Phân loại Đạt/Không đạt</a:t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571500" y="3848100"/>
            <a:ext cx="5286375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571500" y="4057650"/>
            <a:ext cx="5286375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4682B4"/>
                </a:solidFill>
                <a:latin typeface="DM Sans"/>
                <a:ea typeface="DM Sans"/>
                <a:cs typeface="DM Sans"/>
                <a:sym typeface="DM Sans"/>
              </a:rPr>
              <a:t>54.6%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571500" y="504825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Accuracy - Phân loại 4 mức học lực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6334125" y="313848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Nhận xét quan trọng: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6334125" y="3357562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Khi chưa có điểm giữa kỳ, Random Forest đạt độ chính xác khá cao trong việc dự đoán sinh viên Đạt (G3 ≥ 10). Tuy nhiên, phân loại 4 mức gặp khó khăn do </a:t>
            </a:r>
            <a:r>
              <a:rPr b="1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mất cân bằng dữ liệu</a:t>
            </a: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lớp Giỏi/Yếu.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DỰ ĐOÁN ĐẠT/KHÔNG ĐẠT &amp; HỌC LỰC</a:t>
            </a: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BEA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 txBox="1"/>
          <p:nvPr/>
        </p:nvSpPr>
        <p:spPr>
          <a:xfrm>
            <a:off x="571500" y="1428750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Đánh giá mô hình RF (Balanced)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571500" y="16478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Sau khi áp dụng </a:t>
            </a:r>
            <a:r>
              <a:rPr b="1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class_weight='balanced'</a:t>
            </a: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, mô hình cải thiện khả năng nhận diện lớp thiểu số: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1000125" y="2257425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Trung bình: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Nhận diện đúng 46/71 sinh viên.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1000125" y="2800350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Yếu: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Nhận diện đúng 9/15 sinh viên.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1000125" y="3343275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Khá/Giỏi: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Vẫn còn sự nhầm lẫn do mẫu dữ liệu ít.</a:t>
            </a:r>
            <a:endParaRPr/>
          </a:p>
        </p:txBody>
      </p:sp>
      <p:pic>
        <p:nvPicPr>
          <p:cNvPr id="234" name="Google Shape;23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1100" y="597713"/>
            <a:ext cx="6344176" cy="566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BEA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4"/>
          <p:cNvSpPr txBox="1"/>
          <p:nvPr/>
        </p:nvSpPr>
        <p:spPr>
          <a:xfrm>
            <a:off x="1000125" y="273843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Failures (0.21):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Lịch sử thi trượt là yếu tố dự báo mạnh nhất.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1000125" y="358616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Absences (0.07):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Sự chuyên cần đứng vị trí thứ hai.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1000125" y="412908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Fedu (0.05):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Học vấn của người cha ảnh hưởng lớn hơn các yếu tố gia đình khác.</a:t>
            </a:r>
            <a:endParaRPr/>
          </a:p>
        </p:txBody>
      </p:sp>
      <p:pic>
        <p:nvPicPr>
          <p:cNvPr descr="image.png" id="243" name="Google Shape;24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76537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24262"/>
            <a:ext cx="1524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67187"/>
            <a:ext cx="1428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 txBox="1"/>
          <p:nvPr/>
        </p:nvSpPr>
        <p:spPr>
          <a:xfrm>
            <a:off x="762000" y="571500"/>
            <a:ext cx="1140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TOP 15 YẾU TỐ ẢNH HƯỞNG </a:t>
            </a:r>
            <a:r>
              <a:rPr b="1" lang="en-US" sz="3000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ĐẾN</a:t>
            </a:r>
            <a:r>
              <a:rPr b="1" i="0" lang="en-US" sz="300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 ĐIỂM SỐ</a:t>
            </a:r>
            <a:endParaRPr/>
          </a:p>
        </p:txBody>
      </p:sp>
      <p:sp>
        <p:nvSpPr>
          <p:cNvPr id="247" name="Google Shape;247;p24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56850" y="1520500"/>
            <a:ext cx="5802750" cy="454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BEA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5"/>
          <p:cNvSpPr txBox="1"/>
          <p:nvPr/>
        </p:nvSpPr>
        <p:spPr>
          <a:xfrm>
            <a:off x="5502525" y="2534888"/>
            <a:ext cx="66609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Kết quả phân 3 nhóm (k=3):</a:t>
            </a:r>
            <a:endParaRPr b="1" i="0" sz="1404" u="none" cap="none" strike="noStrike">
              <a:solidFill>
                <a:srgbClr val="001F3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4">
              <a:solidFill>
                <a:srgbClr val="001F3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4">
              <a:solidFill>
                <a:srgbClr val="001F3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4">
              <a:solidFill>
                <a:srgbClr val="001F3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54" name="Google Shape;254;p25"/>
          <p:cNvSpPr txBox="1"/>
          <p:nvPr/>
        </p:nvSpPr>
        <p:spPr>
          <a:xfrm>
            <a:off x="5920675" y="2856263"/>
            <a:ext cx="5915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Cụm 0 (Trung bình):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Nhóm phổ thông, hành vi bình thường.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5920675" y="3399188"/>
            <a:ext cx="5915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Cụm 1 (Vắng nhiều/Mê chơi):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Điểm G3 thấp (10.6), vắng học nhiều, hay đi chơi (goout cao).</a:t>
            </a:r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5920675" y="4246913"/>
            <a:ext cx="5915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Cụm 2 (Chăm chỉ):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Điểm G3 cao nhất (12.38), thời gian học (studytime) cao, ít vắng học.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762000" y="571500"/>
            <a:ext cx="1140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PHÂN CỤM SINH VIÊN </a:t>
            </a:r>
            <a:r>
              <a:rPr b="1" lang="en-US" sz="3000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THEO HÀNH VI</a:t>
            </a:r>
            <a:endParaRPr/>
          </a:p>
        </p:txBody>
      </p:sp>
      <p:sp>
        <p:nvSpPr>
          <p:cNvPr id="258" name="Google Shape;258;p25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800" y="1646350"/>
            <a:ext cx="5264101" cy="423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BEA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6"/>
          <p:cNvSpPr txBox="1"/>
          <p:nvPr/>
        </p:nvSpPr>
        <p:spPr>
          <a:xfrm>
            <a:off x="1291650" y="1917475"/>
            <a:ext cx="9608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CẢM ƠN THẦY ĐÃ </a:t>
            </a:r>
            <a:endParaRPr b="1" i="0" sz="6000" u="none" cap="none" strike="noStrike">
              <a:solidFill>
                <a:srgbClr val="001F3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LẮNG NGHE!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